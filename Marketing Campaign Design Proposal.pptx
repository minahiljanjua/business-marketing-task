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Plus Jakarta Sans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2481f67f-4674-49b4-aadf-d1869e155d26.fntdata" /><ns0:Relationship Id="rIdFont18" Type="http://schemas.openxmlformats.org/officeDocument/2006/relationships/font" Target="fonts/9bedc714-836b-4239-8987-58578b03b8a0.fntdata" /><ns0:Relationship Id="rIdFont19" Type="http://schemas.openxmlformats.org/officeDocument/2006/relationships/font" Target="fonts/47a17f65-03f1-44be-b6b2-9d0eee02f9c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35547"/>
            <a:ext cx="2743200" cy="295275"/>
          </a:xfrm>
          <a:prstGeom prst="roundRect">
            <a:avLst>
              <a:gd name="adj" fmla="val 50000"/>
            </a:avLst>
          </a:prstGeom>
          <a:solidFill>
            <a:srgbClr val="122A39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769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4071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DD4BF"/>
                </a:solidFill>
                <a:latin typeface="Inter"/>
              </a:rPr>
              <a:t>CODEALPHA INTERNSHIP | TASK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4025" y="623887"/>
            <a:ext cx="2797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Minahil Amjad (ID: CA/DF1/299347)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92697"/>
            <a:ext cx="2533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DD4BF"/>
                </a:solidFill>
                <a:latin typeface="Inter"/>
              </a:rPr>
              <a:t>Digital Marketing Campaign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21322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Smart Living 2026: Omnichannel Launch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12852"/>
            <a:ext cx="1012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Accelerating D2C Acquisition &amp; High-ROI Conversion for TechTrend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915025"/>
            <a:ext cx="2178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CAMPAIGN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2178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90 Days (Q2 Execution)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475" y="5915025"/>
            <a:ext cx="1440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TARGET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7475" y="6057900"/>
            <a:ext cx="1440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DD4BF"/>
                </a:solidFill>
                <a:latin typeface="Inter"/>
              </a:rPr>
              <a:t>$120,000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915025"/>
            <a:ext cx="16787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CORE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057900"/>
            <a:ext cx="1678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Scale ROAS &gt; 3.5x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66937"/>
            <a:ext cx="529590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66937"/>
            <a:ext cx="529590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78448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30898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01. 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Strategic Campaign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8525" y="61817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2 /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688877"/>
            <a:ext cx="53911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Smart Living 2026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campaign positions TechTrend Solutions as the ultimate D2C destination for intuitive smart home eco-systems.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740348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Primary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978473"/>
            <a:ext cx="533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Drive 2.5M impressions and capture 8,500 qualified customer leads.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292798"/>
            <a:ext cx="61257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Core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530923"/>
            <a:ext cx="5834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Short-form UGC video ads combined with intent-driven search retargeting.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43187"/>
            <a:ext cx="35052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43187"/>
            <a:ext cx="35052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43187"/>
            <a:ext cx="35052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5751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5751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5751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052762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3052762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05276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02. AUDIENCE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Target Customer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58525" y="61817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3 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49091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Tech 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7861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Ages 25–40 | Tech Enthusiasts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100512"/>
            <a:ext cx="2971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Seeks desk productivity tools, ergonomic gadgets, and smart lighting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7725" y="349091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Smart Home Upgrader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7725" y="37861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Ages 30–50 | Modern Homeowners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725" y="4100512"/>
            <a:ext cx="2971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Wants plug-and-play security cameras, automated plugs, and energy savers.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1525" y="349091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Gift Shoppers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1525" y="37861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Ages 22–45 | Seasonal Buyers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1525" y="4100512"/>
            <a:ext cx="2971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Attracted by packaged gift bundles, fast delivery, and premium packaging.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3090862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586162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081462"/>
            <a:ext cx="1619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6762"/>
            <a:ext cx="142875" cy="1428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2490787"/>
          <a:ext cx="10972798" cy="2400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39081"/>
                <a:gridCol w="3484066"/>
                <a:gridCol w="3941266"/>
                <a:gridCol w="1608385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Primary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Content Format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Frequency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766E"/>
                          </a:solidFill>
                          <a:latin typeface="Inter"/>
                        </a:rPr>
                        <a:t>Instagram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Aesthetic Showcase &amp; UGC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Reels &amp; Carousel Posts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5x / week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766E"/>
                          </a:solidFill>
                          <a:latin typeface="Inter"/>
                        </a:rPr>
                        <a:t>TikTok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Viral Product Demos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Short Problem-Solution Shorts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6x / week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766E"/>
                          </a:solidFill>
                          <a:latin typeface="Inter"/>
                        </a:rPr>
                        <a:t>YouTube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In-Depth Reviews &amp;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Shorts &amp; Creator Integration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2x / week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766E"/>
                          </a:solidFill>
                          <a:latin typeface="Inter"/>
                        </a:rPr>
                        <a:t>Facebook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Retargeting &amp; Community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Image Ads &amp; Customer Reviews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Inter"/>
                        </a:rPr>
                        <a:t>4x / week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03. MEDIA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Social Media Activation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181725"/>
            <a:ext cx="819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71787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871787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52750"/>
            <a:ext cx="35052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157537"/>
            <a:ext cx="647700" cy="209550"/>
          </a:xfrm>
          <a:prstGeom prst="roundRect">
            <a:avLst>
              <a:gd name="adj" fmla="val 18181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9625" y="3157537"/>
            <a:ext cx="666750" cy="209550"/>
          </a:xfrm>
          <a:prstGeom prst="roundRect">
            <a:avLst>
              <a:gd name="adj" fmla="val 18181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53425" y="3238500"/>
            <a:ext cx="666750" cy="209550"/>
          </a:xfrm>
          <a:prstGeom prst="roundRect">
            <a:avLst>
              <a:gd name="adj" fmla="val 18181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04. CREATIVE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High-Converting Content 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8525" y="61817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5 /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195637"/>
            <a:ext cx="590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ANGLE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4528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"Desk Setup Makeover"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748087"/>
            <a:ext cx="3048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Time-lapse transformation of messy workspaces into sleek smart hubs using TechTrend products.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5825" y="3195637"/>
            <a:ext cx="609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ANGLE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4528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"Unboxing &amp; Real Test"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748087"/>
            <a:ext cx="3048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Raw micro-influencer footage testing plug-and-play smart lights and voice control response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9625" y="3276600"/>
            <a:ext cx="609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ANGLE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53377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"Problem vs. Solution"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3829050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Highlighting high electricity bills vs. automated savings via TechTrend Smart Energy Plugs.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62287"/>
            <a:ext cx="3321099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35524" y="2986087"/>
            <a:ext cx="332109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61449" y="3062287"/>
            <a:ext cx="3321099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62287"/>
            <a:ext cx="332109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5524" y="2986087"/>
            <a:ext cx="3321099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61449" y="3062287"/>
            <a:ext cx="3321099" cy="381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99" y="3595687"/>
            <a:ext cx="1238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124" y="3595687"/>
            <a:ext cx="1238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05. PAID 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Full-Funnel Paid Advertising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58525" y="61817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6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328987"/>
            <a:ext cx="357987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Inter"/>
              </a:rPr>
              <a:t>STAGE 1: TOFU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509962"/>
            <a:ext cx="37588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786187"/>
            <a:ext cx="29591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Broad demographic video ads on Meta &amp; TikTok focusing on brand discovery and viral clips.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4124" y="3252787"/>
            <a:ext cx="357987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766E"/>
                </a:solidFill>
                <a:latin typeface="Inter"/>
              </a:rPr>
              <a:t>STAGE 2: MOFU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4124" y="3433762"/>
            <a:ext cx="37588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Consideration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4124" y="3709987"/>
            <a:ext cx="29591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Google Search intent ads, influencer comparisons, and lead magnet discounts for signups.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0049" y="3328987"/>
            <a:ext cx="357987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11827"/>
                </a:solidFill>
                <a:latin typeface="Inter"/>
              </a:rPr>
              <a:t>STAGE 3: BOFU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0049" y="3509962"/>
            <a:ext cx="3701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0049" y="3786187"/>
            <a:ext cx="29591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Dynamic catalog ads for cart abandoners with limited-time 15% discount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25666" y="2862262"/>
            <a:ext cx="5056733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71812"/>
            <a:ext cx="5535066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19487"/>
            <a:ext cx="5535066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967162"/>
            <a:ext cx="5535066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414837"/>
            <a:ext cx="5535066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071812"/>
            <a:ext cx="2213967" cy="952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519487"/>
            <a:ext cx="1383655" cy="952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967162"/>
            <a:ext cx="1106983" cy="952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14837"/>
            <a:ext cx="830163" cy="952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06. FINANCIAL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Campaign Budget Allocation ($15,000 Total)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58525" y="61817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7 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81" y="3176587"/>
            <a:ext cx="553510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Total Estimated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481" y="3414712"/>
            <a:ext cx="5535104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$15,000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481" y="4052887"/>
            <a:ext cx="55351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D9488"/>
                </a:solidFill>
                <a:latin typeface="Inter"/>
              </a:rPr>
              <a:t>Target Revenue: $120,000 (8x Pipeline)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871787"/>
            <a:ext cx="1928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Meta Ads (FB/IG) - 40%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7941" y="2871787"/>
            <a:ext cx="752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$6,000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319462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Google Search &amp; Shopping - 25%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466" y="3319462"/>
            <a:ext cx="7429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$3,750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3767137"/>
            <a:ext cx="2667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Influencer Seeding &amp; UGC - 20%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7941" y="3767137"/>
            <a:ext cx="752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$3,000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214812"/>
            <a:ext cx="3095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Creative Production &amp; Software - 15%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7941" y="4214812"/>
            <a:ext cx="752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$2,250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07.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Projected Campaign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81725"/>
            <a:ext cx="2726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TechTrend Solutions Campaign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58525" y="6181725"/>
            <a:ext cx="80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2271" y="3195637"/>
            <a:ext cx="16430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766E"/>
                </a:solidFill>
                <a:latin typeface="Inter"/>
              </a:rPr>
              <a:t>2.5M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2271" y="3805237"/>
            <a:ext cx="1643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Ad Impressions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2271" y="4033837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Across Meta &amp; TikTok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3084" y="3195637"/>
            <a:ext cx="1905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766E"/>
                </a:solidFill>
                <a:latin typeface="Inter"/>
              </a:rPr>
              <a:t>8,500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3084" y="3805237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Leads Captured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084" y="4033837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Email &amp; SMS Signups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7265" y="3195637"/>
            <a:ext cx="14097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766E"/>
                </a:solidFill>
                <a:latin typeface="Inter"/>
              </a:rPr>
              <a:t>3.5x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7265" y="3805237"/>
            <a:ext cx="1409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Blended ROAS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7265" y="4033837"/>
            <a:ext cx="1409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Paid Media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3050" y="3195637"/>
            <a:ext cx="2035968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766E"/>
                </a:solidFill>
                <a:latin typeface="Inter"/>
              </a:rPr>
              <a:t>$120K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3050" y="3805237"/>
            <a:ext cx="203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Total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3050" y="4033837"/>
            <a:ext cx="2035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In 90-Day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05375" y="2247900"/>
            <a:ext cx="2381250" cy="295275"/>
          </a:xfrm>
          <a:prstGeom prst="roundRect">
            <a:avLst>
              <a:gd name="adj" fmla="val 50000"/>
            </a:avLst>
          </a:prstGeom>
          <a:solidFill>
            <a:srgbClr val="122A39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4750" y="4210050"/>
            <a:ext cx="47625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14750" y="4210050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79168" y="2305050"/>
            <a:ext cx="26336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DD4BF"/>
                </a:solidFill>
                <a:latin typeface="Inter"/>
              </a:rPr>
              <a:t>Campaign Ready for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111" y="2771775"/>
            <a:ext cx="1021377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You! 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505200"/>
            <a:ext cx="714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Prepared by Minahil Amjad for CodeAlpha Business &amp; Marketing Internship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2103" y="4448175"/>
            <a:ext cx="2226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Inter"/>
              </a:rPr>
              <a:t>Student ID: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CA/DF1/299347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9831" y="4448175"/>
            <a:ext cx="2452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Inter"/>
              </a:rPr>
              <a:t>Company: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TechTrend 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42987"/>
            <a:ext cx="9120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https://cdn.dribbble.com/userupload/47531924/file/d3fd13d937cb330f0957ca5d1265def7.png?resize=752x&amp;vertical=center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430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